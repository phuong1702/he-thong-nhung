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28803600" cy="446230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055" userDrawn="1">
          <p15:clr>
            <a:srgbClr val="A4A3A4"/>
          </p15:clr>
        </p15:guide>
        <p15:guide id="2" pos="9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79" autoAdjust="0"/>
    <p:restoredTop sz="94660"/>
  </p:normalViewPr>
  <p:slideViewPr>
    <p:cSldViewPr snapToGrid="0" showGuides="1">
      <p:cViewPr>
        <p:scale>
          <a:sx n="33" d="100"/>
          <a:sy n="33" d="100"/>
        </p:scale>
        <p:origin x="850" y="-5309"/>
      </p:cViewPr>
      <p:guideLst>
        <p:guide orient="horz" pos="14055"/>
        <p:guide pos="9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270" y="7302894"/>
            <a:ext cx="24483060" cy="15535428"/>
          </a:xfrm>
        </p:spPr>
        <p:txBody>
          <a:bodyPr anchor="b"/>
          <a:lstStyle>
            <a:lvl1pPr algn="ctr">
              <a:defRPr sz="18900"/>
            </a:lvl1pPr>
          </a:lstStyle>
          <a:p>
            <a:r>
              <a:rPr lang="en-US"/>
              <a:t>Click to edit Master title style</a:t>
            </a:r>
            <a:endParaRPr lang="en-US" dirty="0"/>
          </a:p>
        </p:txBody>
      </p:sp>
      <p:sp>
        <p:nvSpPr>
          <p:cNvPr id="3" name="Subtitle 2"/>
          <p:cNvSpPr>
            <a:spLocks noGrp="1"/>
          </p:cNvSpPr>
          <p:nvPr>
            <p:ph type="subTitle" idx="1"/>
          </p:nvPr>
        </p:nvSpPr>
        <p:spPr>
          <a:xfrm>
            <a:off x="3600450" y="23437428"/>
            <a:ext cx="21602700" cy="10773568"/>
          </a:xfrm>
        </p:spPr>
        <p:txBody>
          <a:bodyPr/>
          <a:lstStyle>
            <a:lvl1pPr marL="0" indent="0" algn="ctr">
              <a:buNone/>
              <a:defRPr sz="7560"/>
            </a:lvl1pPr>
            <a:lvl2pPr marL="1440180" indent="0" algn="ctr">
              <a:buNone/>
              <a:defRPr sz="6300"/>
            </a:lvl2pPr>
            <a:lvl3pPr marL="2880360" indent="0" algn="ctr">
              <a:buNone/>
              <a:defRPr sz="5670"/>
            </a:lvl3pPr>
            <a:lvl4pPr marL="4320540" indent="0" algn="ctr">
              <a:buNone/>
              <a:defRPr sz="5040"/>
            </a:lvl4pPr>
            <a:lvl5pPr marL="5760720" indent="0" algn="ctr">
              <a:buNone/>
              <a:defRPr sz="5040"/>
            </a:lvl5pPr>
            <a:lvl6pPr marL="7200900" indent="0" algn="ctr">
              <a:buNone/>
              <a:defRPr sz="5040"/>
            </a:lvl6pPr>
            <a:lvl7pPr marL="8641080" indent="0" algn="ctr">
              <a:buNone/>
              <a:defRPr sz="5040"/>
            </a:lvl7pPr>
            <a:lvl8pPr marL="10081260" indent="0" algn="ctr">
              <a:buNone/>
              <a:defRPr sz="5040"/>
            </a:lvl8pPr>
            <a:lvl9pPr marL="11521440" indent="0" algn="ctr">
              <a:buNone/>
              <a:defRPr sz="5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7154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009976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247" y="11124784"/>
            <a:ext cx="24843105" cy="18561941"/>
          </a:xfrm>
        </p:spPr>
        <p:txBody>
          <a:bodyPr anchor="b"/>
          <a:lstStyle>
            <a:lvl1pPr>
              <a:defRPr sz="18900"/>
            </a:lvl1pPr>
          </a:lstStyle>
          <a:p>
            <a:r>
              <a:rPr lang="en-US"/>
              <a:t>Click to edit Master title style</a:t>
            </a:r>
            <a:endParaRPr lang="en-US" dirty="0"/>
          </a:p>
        </p:txBody>
      </p:sp>
      <p:sp>
        <p:nvSpPr>
          <p:cNvPr id="3" name="Text Placeholder 2"/>
          <p:cNvSpPr>
            <a:spLocks noGrp="1"/>
          </p:cNvSpPr>
          <p:nvPr>
            <p:ph type="body" idx="1"/>
          </p:nvPr>
        </p:nvSpPr>
        <p:spPr>
          <a:xfrm>
            <a:off x="1965247" y="29862329"/>
            <a:ext cx="24843105" cy="9761286"/>
          </a:xfrm>
        </p:spPr>
        <p:txBody>
          <a:bodyPr/>
          <a:lstStyle>
            <a:lvl1pPr marL="0" indent="0">
              <a:buNone/>
              <a:defRPr sz="7560">
                <a:solidFill>
                  <a:schemeClr val="tx1"/>
                </a:solidFill>
              </a:defRPr>
            </a:lvl1pPr>
            <a:lvl2pPr marL="1440180" indent="0">
              <a:buNone/>
              <a:defRPr sz="6300">
                <a:solidFill>
                  <a:schemeClr val="tx1">
                    <a:tint val="75000"/>
                  </a:schemeClr>
                </a:solidFill>
              </a:defRPr>
            </a:lvl2pPr>
            <a:lvl3pPr marL="2880360" indent="0">
              <a:buNone/>
              <a:defRPr sz="5670">
                <a:solidFill>
                  <a:schemeClr val="tx1">
                    <a:tint val="75000"/>
                  </a:schemeClr>
                </a:solidFill>
              </a:defRPr>
            </a:lvl3pPr>
            <a:lvl4pPr marL="4320540" indent="0">
              <a:buNone/>
              <a:defRPr sz="5040">
                <a:solidFill>
                  <a:schemeClr val="tx1">
                    <a:tint val="75000"/>
                  </a:schemeClr>
                </a:solidFill>
              </a:defRPr>
            </a:lvl4pPr>
            <a:lvl5pPr marL="5760720" indent="0">
              <a:buNone/>
              <a:defRPr sz="5040">
                <a:solidFill>
                  <a:schemeClr val="tx1">
                    <a:tint val="75000"/>
                  </a:schemeClr>
                </a:solidFill>
              </a:defRPr>
            </a:lvl5pPr>
            <a:lvl6pPr marL="7200900" indent="0">
              <a:buNone/>
              <a:defRPr sz="5040">
                <a:solidFill>
                  <a:schemeClr val="tx1">
                    <a:tint val="75000"/>
                  </a:schemeClr>
                </a:solidFill>
              </a:defRPr>
            </a:lvl6pPr>
            <a:lvl7pPr marL="8641080" indent="0">
              <a:buNone/>
              <a:defRPr sz="5040">
                <a:solidFill>
                  <a:schemeClr val="tx1">
                    <a:tint val="75000"/>
                  </a:schemeClr>
                </a:solidFill>
              </a:defRPr>
            </a:lvl7pPr>
            <a:lvl8pPr marL="10081260" indent="0">
              <a:buNone/>
              <a:defRPr sz="5040">
                <a:solidFill>
                  <a:schemeClr val="tx1">
                    <a:tint val="75000"/>
                  </a:schemeClr>
                </a:solidFill>
              </a:defRPr>
            </a:lvl8pPr>
            <a:lvl9pPr marL="1152144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1383749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80248"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81823"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5511AC-980B-485A-851E-DBD0B8F4CBAD}"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696209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375773"/>
            <a:ext cx="24843105" cy="862505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4002" y="10938845"/>
            <a:ext cx="12185271"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4" name="Content Placeholder 3"/>
          <p:cNvSpPr>
            <a:spLocks noGrp="1"/>
          </p:cNvSpPr>
          <p:nvPr>
            <p:ph sz="half" idx="2"/>
          </p:nvPr>
        </p:nvSpPr>
        <p:spPr>
          <a:xfrm>
            <a:off x="1984002" y="16299804"/>
            <a:ext cx="12185271"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81824" y="10938845"/>
            <a:ext cx="12245282"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6" name="Content Placeholder 5"/>
          <p:cNvSpPr>
            <a:spLocks noGrp="1"/>
          </p:cNvSpPr>
          <p:nvPr>
            <p:ph sz="quarter" idx="4"/>
          </p:nvPr>
        </p:nvSpPr>
        <p:spPr>
          <a:xfrm>
            <a:off x="14581824" y="16299804"/>
            <a:ext cx="12245282"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5511AC-980B-485A-851E-DBD0B8F4CBAD}"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292779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5511AC-980B-485A-851E-DBD0B8F4CBAD}"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368988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134302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Content Placeholder 2"/>
          <p:cNvSpPr>
            <a:spLocks noGrp="1"/>
          </p:cNvSpPr>
          <p:nvPr>
            <p:ph idx="1"/>
          </p:nvPr>
        </p:nvSpPr>
        <p:spPr>
          <a:xfrm>
            <a:off x="12245281" y="6424901"/>
            <a:ext cx="14581823" cy="31711279"/>
          </a:xfrm>
        </p:spPr>
        <p:txBody>
          <a:bodyPr/>
          <a:lstStyle>
            <a:lvl1pPr>
              <a:defRPr sz="10080"/>
            </a:lvl1pPr>
            <a:lvl2pPr>
              <a:defRPr sz="8820"/>
            </a:lvl2pPr>
            <a:lvl3pPr>
              <a:defRPr sz="7560"/>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19053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245281" y="6424901"/>
            <a:ext cx="14581823" cy="31711279"/>
          </a:xfrm>
        </p:spPr>
        <p:txBody>
          <a:bodyPr anchor="t"/>
          <a:lstStyle>
            <a:lvl1pPr marL="0" indent="0">
              <a:buNone/>
              <a:defRPr sz="10080"/>
            </a:lvl1pPr>
            <a:lvl2pPr marL="1440180" indent="0">
              <a:buNone/>
              <a:defRPr sz="8820"/>
            </a:lvl2pPr>
            <a:lvl3pPr marL="2880360" indent="0">
              <a:buNone/>
              <a:defRPr sz="7560"/>
            </a:lvl3pPr>
            <a:lvl4pPr marL="4320540" indent="0">
              <a:buNone/>
              <a:defRPr sz="6300"/>
            </a:lvl4pPr>
            <a:lvl5pPr marL="5760720" indent="0">
              <a:buNone/>
              <a:defRPr sz="6300"/>
            </a:lvl5pPr>
            <a:lvl6pPr marL="7200900" indent="0">
              <a:buNone/>
              <a:defRPr sz="6300"/>
            </a:lvl6pPr>
            <a:lvl7pPr marL="8641080" indent="0">
              <a:buNone/>
              <a:defRPr sz="6300"/>
            </a:lvl7pPr>
            <a:lvl8pPr marL="10081260" indent="0">
              <a:buNone/>
              <a:defRPr sz="6300"/>
            </a:lvl8pPr>
            <a:lvl9pPr marL="11521440" indent="0">
              <a:buNone/>
              <a:defRPr sz="6300"/>
            </a:lvl9pPr>
          </a:lstStyle>
          <a:p>
            <a:r>
              <a:rPr lang="en-US"/>
              <a:t>Click icon to add picture</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15160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63329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2578" y="2375764"/>
            <a:ext cx="6210776" cy="378159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80249" y="2375764"/>
            <a:ext cx="18272284" cy="37815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5366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248" y="2375773"/>
            <a:ext cx="24843105" cy="862505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80248" y="11878818"/>
            <a:ext cx="24843105" cy="283129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80248" y="41358955"/>
            <a:ext cx="6480810" cy="2375764"/>
          </a:xfrm>
          <a:prstGeom prst="rect">
            <a:avLst/>
          </a:prstGeom>
        </p:spPr>
        <p:txBody>
          <a:bodyPr vert="horz" lIns="91440" tIns="45720" rIns="91440" bIns="45720" rtlCol="0" anchor="ctr"/>
          <a:lstStyle>
            <a:lvl1pPr algn="l">
              <a:defRPr sz="3780">
                <a:solidFill>
                  <a:schemeClr val="tx1">
                    <a:tint val="75000"/>
                  </a:schemeClr>
                </a:solidFill>
              </a:defRPr>
            </a:lvl1pPr>
          </a:lstStyle>
          <a:p>
            <a:fld id="{E95511AC-980B-485A-851E-DBD0B8F4CBAD}" type="datetimeFigureOut">
              <a:rPr lang="en-US" smtClean="0"/>
              <a:t>11/21/2025</a:t>
            </a:fld>
            <a:endParaRPr lang="en-US"/>
          </a:p>
        </p:txBody>
      </p:sp>
      <p:sp>
        <p:nvSpPr>
          <p:cNvPr id="5" name="Footer Placeholder 4"/>
          <p:cNvSpPr>
            <a:spLocks noGrp="1"/>
          </p:cNvSpPr>
          <p:nvPr>
            <p:ph type="ftr" sz="quarter" idx="3"/>
          </p:nvPr>
        </p:nvSpPr>
        <p:spPr>
          <a:xfrm>
            <a:off x="9541193" y="41358955"/>
            <a:ext cx="9721215" cy="2375764"/>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342543" y="41358955"/>
            <a:ext cx="6480810" cy="2375764"/>
          </a:xfrm>
          <a:prstGeom prst="rect">
            <a:avLst/>
          </a:prstGeom>
        </p:spPr>
        <p:txBody>
          <a:bodyPr vert="horz" lIns="91440" tIns="45720" rIns="91440" bIns="45720" rtlCol="0" anchor="ctr"/>
          <a:lstStyle>
            <a:lvl1pPr algn="r">
              <a:defRPr sz="378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145624809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880360" rtl="0" eaLnBrk="1" latinLnBrk="0" hangingPunct="1">
        <a:lnSpc>
          <a:spcPct val="90000"/>
        </a:lnSpc>
        <a:spcBef>
          <a:spcPct val="0"/>
        </a:spcBef>
        <a:buNone/>
        <a:defRPr sz="13860" kern="1200">
          <a:solidFill>
            <a:schemeClr val="tx1"/>
          </a:solidFill>
          <a:latin typeface="+mj-lt"/>
          <a:ea typeface="+mj-ea"/>
          <a:cs typeface="+mj-cs"/>
        </a:defRPr>
      </a:lvl1pPr>
    </p:titleStyle>
    <p:bodyStyle>
      <a:lvl1pPr marL="720090" indent="-720090" algn="l" defTabSz="2880360" rtl="0" eaLnBrk="1" latinLnBrk="0" hangingPunct="1">
        <a:lnSpc>
          <a:spcPct val="90000"/>
        </a:lnSpc>
        <a:spcBef>
          <a:spcPts val="3150"/>
        </a:spcBef>
        <a:buFont typeface="Arial" panose="020B0604020202020204" pitchFamily="34" charset="0"/>
        <a:buChar char="•"/>
        <a:defRPr sz="8820" kern="1200">
          <a:solidFill>
            <a:schemeClr val="tx1"/>
          </a:solidFill>
          <a:latin typeface="+mn-lt"/>
          <a:ea typeface="+mn-ea"/>
          <a:cs typeface="+mn-cs"/>
        </a:defRPr>
      </a:lvl1pPr>
      <a:lvl2pPr marL="2160270" indent="-720090" algn="l" defTabSz="2880360" rtl="0" eaLnBrk="1" latinLnBrk="0" hangingPunct="1">
        <a:lnSpc>
          <a:spcPct val="90000"/>
        </a:lnSpc>
        <a:spcBef>
          <a:spcPts val="1575"/>
        </a:spcBef>
        <a:buFont typeface="Arial" panose="020B0604020202020204" pitchFamily="34" charset="0"/>
        <a:buChar char="•"/>
        <a:defRPr sz="7560" kern="1200">
          <a:solidFill>
            <a:schemeClr val="tx1"/>
          </a:solidFill>
          <a:latin typeface="+mn-lt"/>
          <a:ea typeface="+mn-ea"/>
          <a:cs typeface="+mn-cs"/>
        </a:defRPr>
      </a:lvl2pPr>
      <a:lvl3pPr marL="3600450" indent="-720090" algn="l" defTabSz="2880360" rtl="0" eaLnBrk="1" latinLnBrk="0" hangingPunct="1">
        <a:lnSpc>
          <a:spcPct val="90000"/>
        </a:lnSpc>
        <a:spcBef>
          <a:spcPts val="1575"/>
        </a:spcBef>
        <a:buFont typeface="Arial" panose="020B0604020202020204" pitchFamily="34" charset="0"/>
        <a:buChar char="•"/>
        <a:defRPr sz="6300" kern="1200">
          <a:solidFill>
            <a:schemeClr val="tx1"/>
          </a:solidFill>
          <a:latin typeface="+mn-lt"/>
          <a:ea typeface="+mn-ea"/>
          <a:cs typeface="+mn-cs"/>
        </a:defRPr>
      </a:lvl3pPr>
      <a:lvl4pPr marL="50406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4pPr>
      <a:lvl5pPr marL="648081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5pPr>
      <a:lvl6pPr marL="792099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6pPr>
      <a:lvl7pPr marL="936117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7pPr>
      <a:lvl8pPr marL="1080135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8pPr>
      <a:lvl9pPr marL="122415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9pPr>
    </p:bodyStyle>
    <p:otherStyle>
      <a:defPPr>
        <a:defRPr lang="en-US"/>
      </a:defPPr>
      <a:lvl1pPr marL="0" algn="l" defTabSz="2880360" rtl="0" eaLnBrk="1" latinLnBrk="0" hangingPunct="1">
        <a:defRPr sz="5670" kern="1200">
          <a:solidFill>
            <a:schemeClr val="tx1"/>
          </a:solidFill>
          <a:latin typeface="+mn-lt"/>
          <a:ea typeface="+mn-ea"/>
          <a:cs typeface="+mn-cs"/>
        </a:defRPr>
      </a:lvl1pPr>
      <a:lvl2pPr marL="1440180" algn="l" defTabSz="2880360" rtl="0" eaLnBrk="1" latinLnBrk="0" hangingPunct="1">
        <a:defRPr sz="5670" kern="1200">
          <a:solidFill>
            <a:schemeClr val="tx1"/>
          </a:solidFill>
          <a:latin typeface="+mn-lt"/>
          <a:ea typeface="+mn-ea"/>
          <a:cs typeface="+mn-cs"/>
        </a:defRPr>
      </a:lvl2pPr>
      <a:lvl3pPr marL="2880360" algn="l" defTabSz="2880360" rtl="0" eaLnBrk="1" latinLnBrk="0" hangingPunct="1">
        <a:defRPr sz="5670" kern="1200">
          <a:solidFill>
            <a:schemeClr val="tx1"/>
          </a:solidFill>
          <a:latin typeface="+mn-lt"/>
          <a:ea typeface="+mn-ea"/>
          <a:cs typeface="+mn-cs"/>
        </a:defRPr>
      </a:lvl3pPr>
      <a:lvl4pPr marL="4320540" algn="l" defTabSz="2880360" rtl="0" eaLnBrk="1" latinLnBrk="0" hangingPunct="1">
        <a:defRPr sz="5670" kern="1200">
          <a:solidFill>
            <a:schemeClr val="tx1"/>
          </a:solidFill>
          <a:latin typeface="+mn-lt"/>
          <a:ea typeface="+mn-ea"/>
          <a:cs typeface="+mn-cs"/>
        </a:defRPr>
      </a:lvl4pPr>
      <a:lvl5pPr marL="5760720" algn="l" defTabSz="2880360" rtl="0" eaLnBrk="1" latinLnBrk="0" hangingPunct="1">
        <a:defRPr sz="5670" kern="1200">
          <a:solidFill>
            <a:schemeClr val="tx1"/>
          </a:solidFill>
          <a:latin typeface="+mn-lt"/>
          <a:ea typeface="+mn-ea"/>
          <a:cs typeface="+mn-cs"/>
        </a:defRPr>
      </a:lvl5pPr>
      <a:lvl6pPr marL="7200900" algn="l" defTabSz="2880360" rtl="0" eaLnBrk="1" latinLnBrk="0" hangingPunct="1">
        <a:defRPr sz="5670" kern="1200">
          <a:solidFill>
            <a:schemeClr val="tx1"/>
          </a:solidFill>
          <a:latin typeface="+mn-lt"/>
          <a:ea typeface="+mn-ea"/>
          <a:cs typeface="+mn-cs"/>
        </a:defRPr>
      </a:lvl6pPr>
      <a:lvl7pPr marL="8641080" algn="l" defTabSz="2880360" rtl="0" eaLnBrk="1" latinLnBrk="0" hangingPunct="1">
        <a:defRPr sz="5670" kern="1200">
          <a:solidFill>
            <a:schemeClr val="tx1"/>
          </a:solidFill>
          <a:latin typeface="+mn-lt"/>
          <a:ea typeface="+mn-ea"/>
          <a:cs typeface="+mn-cs"/>
        </a:defRPr>
      </a:lvl7pPr>
      <a:lvl8pPr marL="10081260" algn="l" defTabSz="2880360" rtl="0" eaLnBrk="1" latinLnBrk="0" hangingPunct="1">
        <a:defRPr sz="5670" kern="1200">
          <a:solidFill>
            <a:schemeClr val="tx1"/>
          </a:solidFill>
          <a:latin typeface="+mn-lt"/>
          <a:ea typeface="+mn-ea"/>
          <a:cs typeface="+mn-cs"/>
        </a:defRPr>
      </a:lvl8pPr>
      <a:lvl9pPr marL="11521440" algn="l" defTabSz="2880360" rtl="0" eaLnBrk="1" latinLnBrk="0" hangingPunct="1">
        <a:defRPr sz="56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D9E4F7B-BDBB-AF4A-B4AD-63280788DEC9}"/>
              </a:ext>
            </a:extLst>
          </p:cNvPr>
          <p:cNvSpPr txBox="1">
            <a:spLocks/>
          </p:cNvSpPr>
          <p:nvPr/>
        </p:nvSpPr>
        <p:spPr>
          <a:xfrm>
            <a:off x="1439865" y="6818349"/>
            <a:ext cx="25923875" cy="1968504"/>
          </a:xfrm>
          <a:prstGeom prst="rect">
            <a:avLst/>
          </a:prstGeom>
        </p:spPr>
        <p:txBody>
          <a:bodyPr vert="horz" lIns="91440" tIns="45720" rIns="91440" bIns="45720" rtlCol="0" anchor="b">
            <a:norm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vi-VN" sz="8000" dirty="0">
                <a:effectLst/>
              </a:rPr>
              <a:t>MÁY HÚT BỤI THÔNG MINH</a:t>
            </a:r>
            <a:endParaRPr lang="en-US" sz="8000" dirty="0">
              <a:effectLst/>
            </a:endParaRPr>
          </a:p>
        </p:txBody>
      </p:sp>
      <p:sp>
        <p:nvSpPr>
          <p:cNvPr id="6" name="Rectangle 5">
            <a:extLst>
              <a:ext uri="{FF2B5EF4-FFF2-40B4-BE49-F238E27FC236}">
                <a16:creationId xmlns:a16="http://schemas.microsoft.com/office/drawing/2014/main" id="{FDB71301-74E9-3D33-787D-882C46CB1337}"/>
              </a:ext>
            </a:extLst>
          </p:cNvPr>
          <p:cNvSpPr/>
          <p:nvPr/>
        </p:nvSpPr>
        <p:spPr>
          <a:xfrm>
            <a:off x="4773706" y="8900202"/>
            <a:ext cx="19256188" cy="59307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sz="3599" b="1" dirty="0"/>
              <a:t>Ngô Quang Trung, Nguyễn Thị Phương, Nguyễn Văn Hiếu, Ngô Khánh Tùng</a:t>
            </a:r>
            <a:endParaRPr lang="en-US" sz="3599" b="1" dirty="0"/>
          </a:p>
        </p:txBody>
      </p:sp>
      <p:sp>
        <p:nvSpPr>
          <p:cNvPr id="7" name="Rectangle 6">
            <a:extLst>
              <a:ext uri="{FF2B5EF4-FFF2-40B4-BE49-F238E27FC236}">
                <a16:creationId xmlns:a16="http://schemas.microsoft.com/office/drawing/2014/main" id="{C5866BCA-6519-4A04-49D6-16F03CF06786}"/>
              </a:ext>
            </a:extLst>
          </p:cNvPr>
          <p:cNvSpPr/>
          <p:nvPr/>
        </p:nvSpPr>
        <p:spPr>
          <a:xfrm>
            <a:off x="4831460" y="9137681"/>
            <a:ext cx="19256188" cy="19685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3199" i="1" dirty="0" err="1"/>
              <a:t>Dainam</a:t>
            </a:r>
            <a:r>
              <a:rPr lang="en-US" sz="3199" i="1" dirty="0"/>
              <a:t> University, Hanoi, Vietnam</a:t>
            </a:r>
          </a:p>
        </p:txBody>
      </p:sp>
      <p:sp>
        <p:nvSpPr>
          <p:cNvPr id="16" name="Text Box 189">
            <a:extLst>
              <a:ext uri="{FF2B5EF4-FFF2-40B4-BE49-F238E27FC236}">
                <a16:creationId xmlns:a16="http://schemas.microsoft.com/office/drawing/2014/main" id="{51079C32-2598-22AE-8FEA-44580D8E22CE}"/>
              </a:ext>
            </a:extLst>
          </p:cNvPr>
          <p:cNvSpPr txBox="1">
            <a:spLocks noChangeArrowheads="1"/>
          </p:cNvSpPr>
          <p:nvPr/>
        </p:nvSpPr>
        <p:spPr bwMode="auto">
          <a:xfrm>
            <a:off x="510761" y="12668070"/>
            <a:ext cx="9074187" cy="3042879"/>
          </a:xfrm>
          <a:prstGeom prst="rect">
            <a:avLst/>
          </a:prstGeom>
          <a:solidFill>
            <a:schemeClr val="bg1"/>
          </a:solidFill>
          <a:ln w="57150">
            <a:solidFill>
              <a:srgbClr val="233F99"/>
            </a:solidFill>
          </a:ln>
          <a:effectLst/>
        </p:spPr>
        <p:txBody>
          <a:bodyPr wrap="square"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r>
              <a:rPr lang="vi-VN" sz="3200" dirty="0"/>
              <a:t>Máy hút bụi thông minh là thiết bị tự động có khả năng tự di chuyển và làm sạch sàn nhà. Nhờ tích hợp các cảm biến và hệ thống nhúng, máy có thể nhận diện vật cản và chống rơi.</a:t>
            </a:r>
            <a:endParaRPr lang="en-US" sz="3200" dirty="0">
              <a:effectLst/>
            </a:endParaRPr>
          </a:p>
        </p:txBody>
      </p:sp>
      <p:sp>
        <p:nvSpPr>
          <p:cNvPr id="17" name="Rectangle 16">
            <a:extLst>
              <a:ext uri="{FF2B5EF4-FFF2-40B4-BE49-F238E27FC236}">
                <a16:creationId xmlns:a16="http://schemas.microsoft.com/office/drawing/2014/main" id="{DE4BE971-7A47-3451-3EE2-CA13BA5489F4}"/>
              </a:ext>
            </a:extLst>
          </p:cNvPr>
          <p:cNvSpPr/>
          <p:nvPr/>
        </p:nvSpPr>
        <p:spPr>
          <a:xfrm>
            <a:off x="510761" y="11659755"/>
            <a:ext cx="9074187" cy="964611"/>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399" b="1" dirty="0" err="1">
                <a:solidFill>
                  <a:schemeClr val="bg1"/>
                </a:solidFill>
              </a:rPr>
              <a:t>Giới</a:t>
            </a:r>
            <a:r>
              <a:rPr lang="en-US" sz="5399" b="1" dirty="0">
                <a:solidFill>
                  <a:schemeClr val="bg1"/>
                </a:solidFill>
              </a:rPr>
              <a:t> </a:t>
            </a:r>
            <a:r>
              <a:rPr lang="en-US" sz="5399" b="1" dirty="0" err="1">
                <a:solidFill>
                  <a:schemeClr val="bg1"/>
                </a:solidFill>
              </a:rPr>
              <a:t>thiệu</a:t>
            </a:r>
            <a:endParaRPr lang="en-US" sz="5399" b="1" dirty="0">
              <a:solidFill>
                <a:schemeClr val="bg1"/>
              </a:solidFill>
            </a:endParaRPr>
          </a:p>
        </p:txBody>
      </p:sp>
      <p:sp>
        <p:nvSpPr>
          <p:cNvPr id="19" name="Rectangle 18">
            <a:extLst>
              <a:ext uri="{FF2B5EF4-FFF2-40B4-BE49-F238E27FC236}">
                <a16:creationId xmlns:a16="http://schemas.microsoft.com/office/drawing/2014/main" id="{1640A9FB-E213-CCEB-F04F-83DD2303D1D8}"/>
              </a:ext>
            </a:extLst>
          </p:cNvPr>
          <p:cNvSpPr/>
          <p:nvPr/>
        </p:nvSpPr>
        <p:spPr>
          <a:xfrm>
            <a:off x="18873569" y="30008041"/>
            <a:ext cx="8490171" cy="1128057"/>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399" b="1" dirty="0" err="1">
                <a:solidFill>
                  <a:schemeClr val="bg1"/>
                </a:solidFill>
              </a:rPr>
              <a:t>Hướng</a:t>
            </a:r>
            <a:r>
              <a:rPr lang="en-US" sz="5399" b="1" dirty="0">
                <a:solidFill>
                  <a:schemeClr val="bg1"/>
                </a:solidFill>
              </a:rPr>
              <a:t> </a:t>
            </a:r>
            <a:r>
              <a:rPr lang="en-US" sz="5399" b="1" dirty="0" err="1">
                <a:solidFill>
                  <a:schemeClr val="bg1"/>
                </a:solidFill>
              </a:rPr>
              <a:t>phát</a:t>
            </a:r>
            <a:r>
              <a:rPr lang="en-US" sz="5399" b="1" dirty="0">
                <a:solidFill>
                  <a:schemeClr val="bg1"/>
                </a:solidFill>
              </a:rPr>
              <a:t> </a:t>
            </a:r>
            <a:r>
              <a:rPr lang="en-US" sz="5399" b="1" dirty="0" err="1">
                <a:solidFill>
                  <a:schemeClr val="bg1"/>
                </a:solidFill>
              </a:rPr>
              <a:t>triển</a:t>
            </a:r>
            <a:endParaRPr lang="en-US" sz="5399" b="1" dirty="0">
              <a:solidFill>
                <a:schemeClr val="bg1"/>
              </a:solidFill>
            </a:endParaRPr>
          </a:p>
        </p:txBody>
      </p:sp>
      <p:sp>
        <p:nvSpPr>
          <p:cNvPr id="20" name="Text Box 191">
            <a:extLst>
              <a:ext uri="{FF2B5EF4-FFF2-40B4-BE49-F238E27FC236}">
                <a16:creationId xmlns:a16="http://schemas.microsoft.com/office/drawing/2014/main" id="{D9710905-8CED-BDEE-1C02-E33551D97D69}"/>
              </a:ext>
            </a:extLst>
          </p:cNvPr>
          <p:cNvSpPr txBox="1">
            <a:spLocks noChangeArrowheads="1"/>
          </p:cNvSpPr>
          <p:nvPr/>
        </p:nvSpPr>
        <p:spPr bwMode="auto">
          <a:xfrm>
            <a:off x="18873569" y="31175915"/>
            <a:ext cx="8490171" cy="7689643"/>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ctr" eaLnBrk="1" hangingPunct="1"/>
            <a:endParaRPr lang="en-US" sz="3000" b="1" dirty="0">
              <a:latin typeface="Calibri" pitchFamily="34" charset="0"/>
            </a:endParaRPr>
          </a:p>
        </p:txBody>
      </p:sp>
      <p:sp>
        <p:nvSpPr>
          <p:cNvPr id="21" name="Rectangle 20">
            <a:extLst>
              <a:ext uri="{FF2B5EF4-FFF2-40B4-BE49-F238E27FC236}">
                <a16:creationId xmlns:a16="http://schemas.microsoft.com/office/drawing/2014/main" id="{78E0184E-C494-F5D6-5DDB-4CEE6BD43A53}"/>
              </a:ext>
            </a:extLst>
          </p:cNvPr>
          <p:cNvSpPr/>
          <p:nvPr/>
        </p:nvSpPr>
        <p:spPr>
          <a:xfrm>
            <a:off x="10045022" y="11665207"/>
            <a:ext cx="18335070" cy="1002860"/>
          </a:xfrm>
          <a:prstGeom prst="rect">
            <a:avLst/>
          </a:prstGeom>
          <a:solidFill>
            <a:srgbClr val="233F99"/>
          </a:solidFill>
          <a:ln w="57150">
            <a:solidFill>
              <a:srgbClr val="233F99"/>
            </a:solid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399" b="1" dirty="0">
                <a:solidFill>
                  <a:schemeClr val="bg1"/>
                </a:solidFill>
                <a:latin typeface="Calibri (Body)"/>
                <a:ea typeface="Calibri" panose="020F0502020204030204" pitchFamily="34" charset="0"/>
                <a:cs typeface="Calibri" panose="020F0502020204030204" pitchFamily="34" charset="0"/>
              </a:rPr>
              <a:t>Thuật toán sử dụng</a:t>
            </a:r>
            <a:endParaRPr lang="en-US" sz="5399" b="1" dirty="0">
              <a:solidFill>
                <a:schemeClr val="bg1"/>
              </a:solidFill>
              <a:latin typeface="Calibri (Body)"/>
              <a:ea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FF12DCEE-1ECB-4347-1188-2F00770BC416}"/>
              </a:ext>
            </a:extLst>
          </p:cNvPr>
          <p:cNvSpPr/>
          <p:nvPr/>
        </p:nvSpPr>
        <p:spPr>
          <a:xfrm>
            <a:off x="481264" y="15710949"/>
            <a:ext cx="9074187" cy="1066389"/>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399" b="1" dirty="0">
                <a:solidFill>
                  <a:schemeClr val="bg1"/>
                </a:solidFill>
              </a:rPr>
              <a:t>Các </a:t>
            </a:r>
            <a:r>
              <a:rPr lang="en-US" sz="5399" b="1" dirty="0" err="1">
                <a:solidFill>
                  <a:schemeClr val="bg1"/>
                </a:solidFill>
              </a:rPr>
              <a:t>thiết</a:t>
            </a:r>
            <a:r>
              <a:rPr lang="en-US" sz="5399" b="1" dirty="0">
                <a:solidFill>
                  <a:schemeClr val="bg1"/>
                </a:solidFill>
              </a:rPr>
              <a:t> </a:t>
            </a:r>
            <a:r>
              <a:rPr lang="en-US" sz="5399" b="1" dirty="0" err="1">
                <a:solidFill>
                  <a:schemeClr val="bg1"/>
                </a:solidFill>
              </a:rPr>
              <a:t>bị</a:t>
            </a:r>
            <a:r>
              <a:rPr lang="en-US" sz="5399" b="1" dirty="0">
                <a:solidFill>
                  <a:schemeClr val="bg1"/>
                </a:solidFill>
              </a:rPr>
              <a:t> </a:t>
            </a:r>
            <a:r>
              <a:rPr lang="en-US" sz="5399" b="1" dirty="0" err="1">
                <a:solidFill>
                  <a:schemeClr val="bg1"/>
                </a:solidFill>
              </a:rPr>
              <a:t>sử</a:t>
            </a:r>
            <a:r>
              <a:rPr lang="en-US" sz="5399" b="1" dirty="0">
                <a:solidFill>
                  <a:schemeClr val="bg1"/>
                </a:solidFill>
              </a:rPr>
              <a:t> </a:t>
            </a:r>
            <a:r>
              <a:rPr lang="en-US" sz="5399" b="1" dirty="0" err="1">
                <a:solidFill>
                  <a:schemeClr val="bg1"/>
                </a:solidFill>
              </a:rPr>
              <a:t>dụng</a:t>
            </a:r>
            <a:endParaRPr lang="en-US" sz="5399" b="1" dirty="0">
              <a:solidFill>
                <a:schemeClr val="bg1"/>
              </a:solidFill>
            </a:endParaRPr>
          </a:p>
        </p:txBody>
      </p:sp>
      <p:sp>
        <p:nvSpPr>
          <p:cNvPr id="49" name="Rectangle 48">
            <a:extLst>
              <a:ext uri="{FF2B5EF4-FFF2-40B4-BE49-F238E27FC236}">
                <a16:creationId xmlns:a16="http://schemas.microsoft.com/office/drawing/2014/main" id="{26204EBA-DBB7-DBBB-862B-3E18DF525598}"/>
              </a:ext>
            </a:extLst>
          </p:cNvPr>
          <p:cNvSpPr/>
          <p:nvPr/>
        </p:nvSpPr>
        <p:spPr>
          <a:xfrm>
            <a:off x="657957" y="39496637"/>
            <a:ext cx="27821867" cy="959132"/>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399" b="1" dirty="0" err="1">
                <a:solidFill>
                  <a:schemeClr val="bg1"/>
                </a:solidFill>
              </a:rPr>
              <a:t>Kết</a:t>
            </a:r>
            <a:r>
              <a:rPr lang="en-US" sz="5399" b="1" dirty="0">
                <a:solidFill>
                  <a:schemeClr val="bg1"/>
                </a:solidFill>
              </a:rPr>
              <a:t> Luận</a:t>
            </a:r>
          </a:p>
        </p:txBody>
      </p:sp>
      <p:sp>
        <p:nvSpPr>
          <p:cNvPr id="50" name="Text Box 194">
            <a:extLst>
              <a:ext uri="{FF2B5EF4-FFF2-40B4-BE49-F238E27FC236}">
                <a16:creationId xmlns:a16="http://schemas.microsoft.com/office/drawing/2014/main" id="{1C22CDFC-ECFD-5BE7-8733-C37CEFFE24E1}"/>
              </a:ext>
            </a:extLst>
          </p:cNvPr>
          <p:cNvSpPr txBox="1">
            <a:spLocks noChangeArrowheads="1"/>
          </p:cNvSpPr>
          <p:nvPr/>
        </p:nvSpPr>
        <p:spPr bwMode="auto">
          <a:xfrm>
            <a:off x="657957" y="40489347"/>
            <a:ext cx="27841077" cy="2537599"/>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600" dirty="0">
                <a:latin typeface="Times New Roman" panose="02020603050405020304" pitchFamily="18" charset="0"/>
                <a:cs typeface="Times New Roman" panose="02020603050405020304" pitchFamily="18" charset="0"/>
              </a:rPr>
              <a:t>Hoàn </a:t>
            </a:r>
            <a:r>
              <a:rPr lang="en-US" sz="3600" dirty="0" err="1">
                <a:latin typeface="Times New Roman" panose="02020603050405020304" pitchFamily="18" charset="0"/>
                <a:cs typeface="Times New Roman" panose="02020603050405020304" pitchFamily="18" charset="0"/>
              </a:rPr>
              <a:t>thành</a:t>
            </a:r>
            <a:r>
              <a:rPr lang="en-US" sz="3600" dirty="0">
                <a:latin typeface="Times New Roman" panose="02020603050405020304" pitchFamily="18" charset="0"/>
                <a:cs typeface="Times New Roman" panose="02020603050405020304" pitchFamily="18" charset="0"/>
              </a:rPr>
              <a:t> </a:t>
            </a:r>
            <a:r>
              <a:rPr lang="vi-VN" sz="3600" dirty="0">
                <a:latin typeface="Times New Roman" panose="02020603050405020304" pitchFamily="18" charset="0"/>
                <a:cs typeface="Times New Roman" panose="02020603050405020304" pitchFamily="18" charset="0"/>
              </a:rPr>
              <a:t>máy hút bụi thông minh gồm 2 chức năng</a:t>
            </a:r>
            <a:r>
              <a:rPr lang="en-US" sz="3600" dirty="0">
                <a:latin typeface="Times New Roman" panose="02020603050405020304" pitchFamily="18" charset="0"/>
                <a:cs typeface="Times New Roman" panose="02020603050405020304" pitchFamily="18" charset="0"/>
              </a:rPr>
              <a:t>:</a:t>
            </a:r>
            <a:endParaRPr lang="vi-VN" sz="3600" dirty="0">
              <a:latin typeface="Times New Roman" panose="02020603050405020304" pitchFamily="18" charset="0"/>
              <a:cs typeface="Times New Roman" panose="02020603050405020304" pitchFamily="18" charset="0"/>
            </a:endParaRPr>
          </a:p>
          <a:p>
            <a:pPr marL="685800" indent="-685800">
              <a:buFont typeface="Arial" panose="020B0604020202020204" pitchFamily="34" charset="0"/>
              <a:buChar char="•"/>
            </a:pPr>
            <a:r>
              <a:rPr lang="vi-VN" sz="3600" b="1" dirty="0">
                <a:latin typeface="Times New Roman" panose="02020603050405020304" pitchFamily="18" charset="0"/>
                <a:cs typeface="Times New Roman" panose="02020603050405020304" pitchFamily="18" charset="0"/>
              </a:rPr>
              <a:t>Chống rơi</a:t>
            </a:r>
            <a:r>
              <a:rPr lang="vi-VN" sz="3600" dirty="0">
                <a:latin typeface="Times New Roman" panose="02020603050405020304" pitchFamily="18" charset="0"/>
                <a:cs typeface="Times New Roman" panose="02020603050405020304" pitchFamily="18" charset="0"/>
              </a:rPr>
              <a:t>: phát hiện bậc thang hoặc vực sâu để không bị rơi.</a:t>
            </a:r>
          </a:p>
          <a:p>
            <a:pPr marL="685800" indent="-685800">
              <a:buFont typeface="Arial" panose="020B0604020202020204" pitchFamily="34" charset="0"/>
              <a:buChar char="•"/>
            </a:pPr>
            <a:r>
              <a:rPr lang="vi-VN" sz="3600" b="1" dirty="0">
                <a:latin typeface="Times New Roman" panose="02020603050405020304" pitchFamily="18" charset="0"/>
                <a:cs typeface="Times New Roman" panose="02020603050405020304" pitchFamily="18" charset="0"/>
              </a:rPr>
              <a:t>Tránh vật cản</a:t>
            </a:r>
            <a:r>
              <a:rPr lang="vi-VN" sz="3600" dirty="0">
                <a:latin typeface="Times New Roman" panose="02020603050405020304" pitchFamily="18" charset="0"/>
                <a:cs typeface="Times New Roman" panose="02020603050405020304" pitchFamily="18" charset="0"/>
              </a:rPr>
              <a:t>: nhận diện và đi vòng quanh đồ vật, không va chạm.</a:t>
            </a:r>
          </a:p>
          <a:p>
            <a:pPr eaLnBrk="1" hangingPunct="1"/>
            <a:endParaRPr lang="en-US" sz="36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85A352EE-1646-EC70-5E36-30EC9AD9F7E0}"/>
              </a:ext>
            </a:extLst>
          </p:cNvPr>
          <p:cNvSpPr txBox="1"/>
          <p:nvPr/>
        </p:nvSpPr>
        <p:spPr>
          <a:xfrm>
            <a:off x="1376910" y="35722836"/>
            <a:ext cx="6766712" cy="553998"/>
          </a:xfrm>
          <a:prstGeom prst="rect">
            <a:avLst/>
          </a:prstGeom>
          <a:noFill/>
        </p:spPr>
        <p:txBody>
          <a:bodyPr wrap="square">
            <a:spAutoFit/>
          </a:bodyPr>
          <a:lstStyle/>
          <a:p>
            <a:r>
              <a:rPr lang="vi-VN" sz="3000" dirty="0">
                <a:latin typeface="Arial" panose="020B0604020202020204" pitchFamily="34" charset="0"/>
              </a:rPr>
              <a:t>Cảm biến hồng ngoại</a:t>
            </a:r>
            <a:endParaRPr lang="en-US" sz="3000" dirty="0"/>
          </a:p>
        </p:txBody>
      </p:sp>
      <p:sp>
        <p:nvSpPr>
          <p:cNvPr id="2" name="Rectangle 1">
            <a:extLst>
              <a:ext uri="{FF2B5EF4-FFF2-40B4-BE49-F238E27FC236}">
                <a16:creationId xmlns:a16="http://schemas.microsoft.com/office/drawing/2014/main" id="{44761195-36CC-D318-5848-2FE501B51178}"/>
              </a:ext>
            </a:extLst>
          </p:cNvPr>
          <p:cNvSpPr/>
          <p:nvPr/>
        </p:nvSpPr>
        <p:spPr>
          <a:xfrm>
            <a:off x="9930032" y="29984441"/>
            <a:ext cx="8764277" cy="1171733"/>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399" b="1" dirty="0">
                <a:solidFill>
                  <a:schemeClr val="bg1"/>
                </a:solidFill>
                <a:latin typeface="Calibri (Body)"/>
                <a:ea typeface="Calibri" panose="020F0502020204030204" pitchFamily="34" charset="0"/>
                <a:cs typeface="Calibri" panose="020F0502020204030204" pitchFamily="34" charset="0"/>
              </a:rPr>
              <a:t>Ứng dụng thực tế</a:t>
            </a:r>
            <a:endParaRPr lang="en-US" sz="5399" b="1" dirty="0">
              <a:solidFill>
                <a:schemeClr val="bg1"/>
              </a:solidFill>
              <a:latin typeface="Calibri (Body)"/>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200AC82E-FF18-1922-4617-B52C8FD19479}"/>
              </a:ext>
            </a:extLst>
          </p:cNvPr>
          <p:cNvSpPr txBox="1"/>
          <p:nvPr/>
        </p:nvSpPr>
        <p:spPr>
          <a:xfrm>
            <a:off x="8408610" y="10752991"/>
            <a:ext cx="9670468" cy="646331"/>
          </a:xfrm>
          <a:prstGeom prst="rect">
            <a:avLst/>
          </a:prstGeom>
          <a:noFill/>
        </p:spPr>
        <p:txBody>
          <a:bodyPr wrap="none" rtlCol="0">
            <a:spAutoFit/>
          </a:bodyPr>
          <a:lstStyle/>
          <a:p>
            <a:pPr algn="ctr"/>
            <a:r>
              <a:rPr lang="en-US" sz="3600" dirty="0"/>
              <a:t>https://github.com/Phuong1702/He-Thong-Nhung</a:t>
            </a:r>
          </a:p>
        </p:txBody>
      </p:sp>
      <p:sp>
        <p:nvSpPr>
          <p:cNvPr id="36" name="TextBox 35">
            <a:extLst>
              <a:ext uri="{FF2B5EF4-FFF2-40B4-BE49-F238E27FC236}">
                <a16:creationId xmlns:a16="http://schemas.microsoft.com/office/drawing/2014/main" id="{EEB835F3-F768-8315-4627-5654129A8455}"/>
              </a:ext>
            </a:extLst>
          </p:cNvPr>
          <p:cNvSpPr txBox="1"/>
          <p:nvPr/>
        </p:nvSpPr>
        <p:spPr>
          <a:xfrm>
            <a:off x="11993222" y="9621668"/>
            <a:ext cx="14438670" cy="369332"/>
          </a:xfrm>
          <a:prstGeom prst="rect">
            <a:avLst/>
          </a:prstGeom>
          <a:noFill/>
        </p:spPr>
        <p:txBody>
          <a:bodyPr wrap="square">
            <a:spAutoFit/>
          </a:bodyPr>
          <a:lstStyle/>
          <a:p>
            <a:r>
              <a:rPr lang="en-US" dirty="0"/>
              <a:t>KHOA CÔNG NGHỆ THÔNG TIN</a:t>
            </a:r>
          </a:p>
        </p:txBody>
      </p:sp>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2"/>
          <a:stretch>
            <a:fillRect/>
          </a:stretch>
        </p:blipFill>
        <p:spPr>
          <a:xfrm>
            <a:off x="57754" y="16254"/>
            <a:ext cx="28803600" cy="6556531"/>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10097479" y="280631"/>
            <a:ext cx="8052141" cy="1569660"/>
          </a:xfrm>
          <a:prstGeom prst="rect">
            <a:avLst/>
          </a:prstGeom>
          <a:noFill/>
        </p:spPr>
        <p:txBody>
          <a:bodyPr wrap="none" rtlCol="0">
            <a:spAutoFit/>
          </a:bodyPr>
          <a:lstStyle/>
          <a:p>
            <a:pPr algn="ctr"/>
            <a:r>
              <a:rPr lang="en-US" sz="4800" b="1">
                <a:solidFill>
                  <a:schemeClr val="bg1"/>
                </a:solidFill>
              </a:rPr>
              <a:t>TRƯỜNG ĐẠI HỌC ĐẠI NAM</a:t>
            </a:r>
          </a:p>
          <a:p>
            <a:pPr algn="ctr"/>
            <a:r>
              <a:rPr lang="en-US" sz="4800" b="1">
                <a:solidFill>
                  <a:schemeClr val="bg1"/>
                </a:solidFill>
              </a:rPr>
              <a:t>KHOA CÔNG NGHỆ THÔNG TIN</a:t>
            </a:r>
          </a:p>
        </p:txBody>
      </p:sp>
      <p:sp>
        <p:nvSpPr>
          <p:cNvPr id="4" name="TextBox 3">
            <a:extLst>
              <a:ext uri="{FF2B5EF4-FFF2-40B4-BE49-F238E27FC236}">
                <a16:creationId xmlns:a16="http://schemas.microsoft.com/office/drawing/2014/main" id="{85630706-2926-BC17-F1DF-4C32343F66DC}"/>
              </a:ext>
            </a:extLst>
          </p:cNvPr>
          <p:cNvSpPr txBox="1"/>
          <p:nvPr/>
        </p:nvSpPr>
        <p:spPr>
          <a:xfrm>
            <a:off x="11616849" y="13372001"/>
            <a:ext cx="12413045" cy="7027640"/>
          </a:xfrm>
          <a:prstGeom prst="rect">
            <a:avLst/>
          </a:prstGeom>
          <a:noFill/>
        </p:spPr>
        <p:txBody>
          <a:bodyPr wrap="square" rtlCol="0">
            <a:spAutoFit/>
          </a:bodyPr>
          <a:lstStyle/>
          <a:p>
            <a:endParaRPr lang="en-VN" dirty="0"/>
          </a:p>
        </p:txBody>
      </p:sp>
      <p:sp>
        <p:nvSpPr>
          <p:cNvPr id="41" name="TextBox 40">
            <a:extLst>
              <a:ext uri="{FF2B5EF4-FFF2-40B4-BE49-F238E27FC236}">
                <a16:creationId xmlns:a16="http://schemas.microsoft.com/office/drawing/2014/main" id="{7179AF18-5277-CA27-7CD9-1AA116954CD1}"/>
              </a:ext>
            </a:extLst>
          </p:cNvPr>
          <p:cNvSpPr txBox="1"/>
          <p:nvPr/>
        </p:nvSpPr>
        <p:spPr>
          <a:xfrm>
            <a:off x="1641898" y="21398604"/>
            <a:ext cx="1181734" cy="553998"/>
          </a:xfrm>
          <a:prstGeom prst="rect">
            <a:avLst/>
          </a:prstGeom>
          <a:noFill/>
        </p:spPr>
        <p:txBody>
          <a:bodyPr wrap="none" rtlCol="0">
            <a:spAutoFit/>
          </a:bodyPr>
          <a:lstStyle/>
          <a:p>
            <a:r>
              <a:rPr lang="en-VN" sz="3000" dirty="0"/>
              <a:t>L298N</a:t>
            </a:r>
          </a:p>
        </p:txBody>
      </p:sp>
      <p:pic>
        <p:nvPicPr>
          <p:cNvPr id="1030" name="Picture 6" descr="Arduino Uno - Wikipedia">
            <a:extLst>
              <a:ext uri="{FF2B5EF4-FFF2-40B4-BE49-F238E27FC236}">
                <a16:creationId xmlns:a16="http://schemas.microsoft.com/office/drawing/2014/main" id="{2829F42F-8D0B-642A-867A-BD7DFA12F7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860" y="25600269"/>
            <a:ext cx="3405351" cy="340535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ảm biến siêu âm HC-SR05 đo khoảng cách Linh kiện Cầu Giấy">
            <a:extLst>
              <a:ext uri="{FF2B5EF4-FFF2-40B4-BE49-F238E27FC236}">
                <a16:creationId xmlns:a16="http://schemas.microsoft.com/office/drawing/2014/main" id="{178562AB-4A39-0025-A5F5-97DAF8DFC7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2388" y="23167282"/>
            <a:ext cx="3573059" cy="3589010"/>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67965D60-8C1F-C1BF-403E-EA0B451D5C76}"/>
              </a:ext>
            </a:extLst>
          </p:cNvPr>
          <p:cNvSpPr txBox="1"/>
          <p:nvPr/>
        </p:nvSpPr>
        <p:spPr>
          <a:xfrm>
            <a:off x="5421289" y="27056934"/>
            <a:ext cx="3876382" cy="553998"/>
          </a:xfrm>
          <a:prstGeom prst="rect">
            <a:avLst/>
          </a:prstGeom>
          <a:noFill/>
        </p:spPr>
        <p:txBody>
          <a:bodyPr wrap="none" rtlCol="0">
            <a:spAutoFit/>
          </a:bodyPr>
          <a:lstStyle/>
          <a:p>
            <a:r>
              <a:rPr lang="en-US" sz="3000" dirty="0" err="1"/>
              <a:t>Cảm</a:t>
            </a:r>
            <a:r>
              <a:rPr lang="en-US" sz="3000" dirty="0"/>
              <a:t> </a:t>
            </a:r>
            <a:r>
              <a:rPr lang="en-US" sz="3000" dirty="0" err="1"/>
              <a:t>biến</a:t>
            </a:r>
            <a:r>
              <a:rPr lang="en-US" sz="3000" dirty="0"/>
              <a:t> </a:t>
            </a:r>
            <a:r>
              <a:rPr lang="en-US" sz="3000" dirty="0" err="1"/>
              <a:t>siêu</a:t>
            </a:r>
            <a:r>
              <a:rPr lang="en-US" sz="3000" dirty="0"/>
              <a:t> </a:t>
            </a:r>
            <a:r>
              <a:rPr lang="en-US" sz="3000" dirty="0" err="1"/>
              <a:t>âm</a:t>
            </a:r>
            <a:r>
              <a:rPr lang="en-US" sz="3000" dirty="0"/>
              <a:t> </a:t>
            </a:r>
            <a:r>
              <a:rPr lang="en-US" sz="3000" dirty="0" err="1"/>
              <a:t>hc</a:t>
            </a:r>
            <a:r>
              <a:rPr lang="en-US" sz="3000" dirty="0"/>
              <a:t> 05</a:t>
            </a:r>
            <a:endParaRPr lang="en-VN" sz="3000" dirty="0"/>
          </a:p>
        </p:txBody>
      </p:sp>
      <p:pic>
        <p:nvPicPr>
          <p:cNvPr id="1034" name="Picture 10" descr="Cảm biến vật cản hồng ngoại IR Infrared Obstacle Avoidance">
            <a:extLst>
              <a:ext uri="{FF2B5EF4-FFF2-40B4-BE49-F238E27FC236}">
                <a16:creationId xmlns:a16="http://schemas.microsoft.com/office/drawing/2014/main" id="{BA953439-5AA4-331C-A737-405B6B322F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6910" y="31322817"/>
            <a:ext cx="3853271" cy="3401842"/>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08DDBFBD-DCA4-02D1-EE67-A859C5653111}"/>
              </a:ext>
            </a:extLst>
          </p:cNvPr>
          <p:cNvSpPr txBox="1"/>
          <p:nvPr/>
        </p:nvSpPr>
        <p:spPr>
          <a:xfrm>
            <a:off x="-1864485" y="37437586"/>
            <a:ext cx="5044885" cy="174089"/>
          </a:xfrm>
          <a:prstGeom prst="rect">
            <a:avLst/>
          </a:prstGeom>
          <a:noFill/>
        </p:spPr>
        <p:txBody>
          <a:bodyPr wrap="square">
            <a:spAutoFit/>
          </a:bodyPr>
          <a:lstStyle/>
          <a:p>
            <a:endParaRPr lang="en-US" dirty="0"/>
          </a:p>
        </p:txBody>
      </p:sp>
      <p:pic>
        <p:nvPicPr>
          <p:cNvPr id="1036" name="Picture 12" descr="Động cơ 130 3VDC - Nshop">
            <a:extLst>
              <a:ext uri="{FF2B5EF4-FFF2-40B4-BE49-F238E27FC236}">
                <a16:creationId xmlns:a16="http://schemas.microsoft.com/office/drawing/2014/main" id="{1553A5DD-78E4-6CE9-1D3E-459B768155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6609" y="28761740"/>
            <a:ext cx="3053280" cy="3053280"/>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EC425AA3-9C31-D194-031A-D25230E21D12}"/>
              </a:ext>
            </a:extLst>
          </p:cNvPr>
          <p:cNvSpPr txBox="1"/>
          <p:nvPr/>
        </p:nvSpPr>
        <p:spPr>
          <a:xfrm>
            <a:off x="5943600" y="32253732"/>
            <a:ext cx="2315057" cy="553998"/>
          </a:xfrm>
          <a:prstGeom prst="rect">
            <a:avLst/>
          </a:prstGeom>
          <a:noFill/>
        </p:spPr>
        <p:txBody>
          <a:bodyPr wrap="none" rtlCol="0">
            <a:spAutoFit/>
          </a:bodyPr>
          <a:lstStyle/>
          <a:p>
            <a:r>
              <a:rPr lang="vi-VN" sz="3000" dirty="0"/>
              <a:t>Động cơ DC</a:t>
            </a:r>
            <a:endParaRPr lang="en-VN" sz="3000" dirty="0"/>
          </a:p>
        </p:txBody>
      </p:sp>
      <p:sp>
        <p:nvSpPr>
          <p:cNvPr id="53" name="TextBox 52">
            <a:extLst>
              <a:ext uri="{FF2B5EF4-FFF2-40B4-BE49-F238E27FC236}">
                <a16:creationId xmlns:a16="http://schemas.microsoft.com/office/drawing/2014/main" id="{190F5E5B-EB47-2234-6F08-78967280AF6A}"/>
              </a:ext>
            </a:extLst>
          </p:cNvPr>
          <p:cNvSpPr txBox="1"/>
          <p:nvPr/>
        </p:nvSpPr>
        <p:spPr>
          <a:xfrm>
            <a:off x="2232765" y="29282524"/>
            <a:ext cx="2090188" cy="553998"/>
          </a:xfrm>
          <a:prstGeom prst="rect">
            <a:avLst/>
          </a:prstGeom>
          <a:noFill/>
        </p:spPr>
        <p:txBody>
          <a:bodyPr wrap="none" rtlCol="0">
            <a:spAutoFit/>
          </a:bodyPr>
          <a:lstStyle/>
          <a:p>
            <a:r>
              <a:rPr lang="en-US" sz="3000" dirty="0" err="1"/>
              <a:t>arduino</a:t>
            </a:r>
            <a:r>
              <a:rPr lang="en-US" sz="3000" dirty="0"/>
              <a:t> uno</a:t>
            </a:r>
            <a:endParaRPr lang="en-VN" sz="3000" dirty="0"/>
          </a:p>
        </p:txBody>
      </p:sp>
      <p:pic>
        <p:nvPicPr>
          <p:cNvPr id="3" name="Picture 2" descr="L298N giải pháp tiết kiệm và hiệu quả để điều khiển nhiều loại động cơ nhỏ">
            <a:extLst>
              <a:ext uri="{FF2B5EF4-FFF2-40B4-BE49-F238E27FC236}">
                <a16:creationId xmlns:a16="http://schemas.microsoft.com/office/drawing/2014/main" id="{0DD6B807-8D47-791C-B9C0-08ADB95976C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57957" y="17531332"/>
            <a:ext cx="5575427" cy="3716951"/>
          </a:xfrm>
          <a:prstGeom prst="rect">
            <a:avLst/>
          </a:prstGeom>
          <a:noFill/>
          <a:ln>
            <a:noFill/>
          </a:ln>
        </p:spPr>
      </p:pic>
      <p:pic>
        <p:nvPicPr>
          <p:cNvPr id="9" name="Picture 8">
            <a:extLst>
              <a:ext uri="{FF2B5EF4-FFF2-40B4-BE49-F238E27FC236}">
                <a16:creationId xmlns:a16="http://schemas.microsoft.com/office/drawing/2014/main" id="{88B28AAF-9C98-54C0-0035-63C31ADF467C}"/>
              </a:ext>
            </a:extLst>
          </p:cNvPr>
          <p:cNvPicPr>
            <a:picLocks noChangeAspect="1"/>
          </p:cNvPicPr>
          <p:nvPr/>
        </p:nvPicPr>
        <p:blipFill>
          <a:blip r:embed="rId8"/>
          <a:stretch>
            <a:fillRect/>
          </a:stretch>
        </p:blipFill>
        <p:spPr>
          <a:xfrm>
            <a:off x="9988641" y="31322817"/>
            <a:ext cx="8705667" cy="7593648"/>
          </a:xfrm>
          <a:prstGeom prst="rect">
            <a:avLst/>
          </a:prstGeom>
        </p:spPr>
      </p:pic>
      <p:sp>
        <p:nvSpPr>
          <p:cNvPr id="12" name="Rectangle 3">
            <a:extLst>
              <a:ext uri="{FF2B5EF4-FFF2-40B4-BE49-F238E27FC236}">
                <a16:creationId xmlns:a16="http://schemas.microsoft.com/office/drawing/2014/main" id="{A94C8118-BCBB-B931-327A-4D691180847E}"/>
              </a:ext>
            </a:extLst>
          </p:cNvPr>
          <p:cNvSpPr>
            <a:spLocks noChangeArrowheads="1"/>
          </p:cNvSpPr>
          <p:nvPr/>
        </p:nvSpPr>
        <p:spPr bwMode="auto">
          <a:xfrm>
            <a:off x="19108615" y="31333908"/>
            <a:ext cx="7995139"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Tự</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động</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hóa</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thông</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minh</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Cảm</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biến</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chống</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rơi</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tránh</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vật</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cản</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thuật</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toán</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điều</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hướng</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tối</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ưu</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Tối</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ưu</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hệ</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vi-VN" altLang="en-US" sz="3600" b="1" i="0" u="none" strike="noStrike" cap="none" normalizeH="0" baseline="0" dirty="0">
                <a:ln>
                  <a:noFill/>
                </a:ln>
                <a:effectLst/>
                <a:latin typeface="Times New Roman" panose="02020603050405020304" pitchFamily="18" charset="0"/>
                <a:cs typeface="Times New Roman" panose="02020603050405020304" pitchFamily="18" charset="0"/>
              </a:rPr>
              <a:t>thố</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ng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nhúng</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Vi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điều</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khiển</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hiệu</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năng</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cao</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tiết</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kiệm</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năng</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lượng</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kết</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nối</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IoT.</a:t>
            </a: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An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toàn</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và</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bền</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1" i="0" u="none" strike="noStrike" cap="none" normalizeH="0" baseline="0" dirty="0" err="1">
                <a:ln>
                  <a:noFill/>
                </a:ln>
                <a:effectLst/>
                <a:latin typeface="Times New Roman" panose="02020603050405020304" pitchFamily="18" charset="0"/>
                <a:cs typeface="Times New Roman" panose="02020603050405020304" pitchFamily="18" charset="0"/>
              </a:rPr>
              <a:t>bỉ</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Khung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nhẹ</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chống</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va</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chạm</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pin </a:t>
            </a:r>
            <a:r>
              <a:rPr kumimoji="0" lang="en-US" altLang="en-US" sz="3600" b="0" i="0" u="none" strike="noStrike" cap="none" normalizeH="0" baseline="0" dirty="0" err="1">
                <a:ln>
                  <a:noFill/>
                </a:ln>
                <a:effectLst/>
                <a:latin typeface="Times New Roman" panose="02020603050405020304" pitchFamily="18" charset="0"/>
                <a:cs typeface="Times New Roman" panose="02020603050405020304" pitchFamily="18" charset="0"/>
              </a:rPr>
              <a:t>lâu</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a:t>
            </a:r>
            <a:endParaRPr kumimoji="0" lang="vi-VN" altLang="en-US" sz="3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vi-VN" sz="3600" b="1" dirty="0">
                <a:latin typeface="Times New Roman" panose="02020603050405020304" pitchFamily="18" charset="0"/>
                <a:cs typeface="Times New Roman" panose="02020603050405020304" pitchFamily="18" charset="0"/>
              </a:rPr>
              <a:t>Mở rộng tính năng</a:t>
            </a:r>
            <a:r>
              <a:rPr lang="vi-VN" sz="3600" dirty="0">
                <a:latin typeface="Times New Roman" panose="02020603050405020304" pitchFamily="18" charset="0"/>
                <a:cs typeface="Times New Roman" panose="02020603050405020304" pitchFamily="18" charset="0"/>
              </a:rPr>
              <a:t>: Lập lịch dọn dẹp, bản đồ nhà thông minh.</a:t>
            </a:r>
          </a:p>
          <a:p>
            <a:pPr marL="571500" indent="-571500" algn="just">
              <a:buFont typeface="Arial" panose="020B0604020202020204" pitchFamily="34" charset="0"/>
              <a:buChar char="•"/>
            </a:pPr>
            <a:r>
              <a:rPr lang="vi-VN" sz="3600" b="1" dirty="0">
                <a:latin typeface="Times New Roman" panose="02020603050405020304" pitchFamily="18" charset="0"/>
                <a:cs typeface="Times New Roman" panose="02020603050405020304" pitchFamily="18" charset="0"/>
              </a:rPr>
              <a:t>Học hỏi và thích nghi</a:t>
            </a:r>
            <a:r>
              <a:rPr lang="vi-VN" sz="3600" dirty="0">
                <a:latin typeface="Times New Roman" panose="02020603050405020304" pitchFamily="18" charset="0"/>
                <a:cs typeface="Times New Roman" panose="02020603050405020304" pitchFamily="18" charset="0"/>
              </a:rPr>
              <a:t>: AI nhận biết môi trường, tối ưu đường đi theo thói quen người dùng.</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485D4A73-0BE6-B162-AD3C-D2E3CB40EF09}"/>
              </a:ext>
            </a:extLst>
          </p:cNvPr>
          <p:cNvPicPr>
            <a:picLocks noChangeAspect="1"/>
          </p:cNvPicPr>
          <p:nvPr/>
        </p:nvPicPr>
        <p:blipFill>
          <a:blip r:embed="rId9"/>
          <a:stretch>
            <a:fillRect/>
          </a:stretch>
        </p:blipFill>
        <p:spPr>
          <a:xfrm>
            <a:off x="12016443" y="13210803"/>
            <a:ext cx="14415449" cy="16332655"/>
          </a:xfrm>
          <a:prstGeom prst="rect">
            <a:avLst/>
          </a:prstGeom>
        </p:spPr>
      </p:pic>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522</TotalTime>
  <Words>273</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(Body)</vt:lpstr>
      <vt:lpstr>Calibri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Phuong Nguyen</cp:lastModifiedBy>
  <cp:revision>68</cp:revision>
  <dcterms:created xsi:type="dcterms:W3CDTF">2023-07-02T07:57:15Z</dcterms:created>
  <dcterms:modified xsi:type="dcterms:W3CDTF">2025-11-21T13:19:09Z</dcterms:modified>
</cp:coreProperties>
</file>